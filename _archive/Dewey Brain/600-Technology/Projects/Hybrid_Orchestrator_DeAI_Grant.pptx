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HYBRID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</a:defRPr>
            </a:pPr>
            <a:r>
              <a:t>A Decentralized Multi-Agent Framework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</a:defRPr>
            </a:pPr>
            <a:r>
              <a:t>Cost-Optimized AI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DeAI Grant Proposal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Derrell Black | Blacktech Solutions Corp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PROBLEM: Extractive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01  Economic Unsustainability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00400" cy="201168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3355"/>
                </a:solidFill>
              </a:defRPr>
            </a:pPr>
            <a:r>
              <a:t>$85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per day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Cloud-only API burn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828800"/>
            <a:ext cx="3200400" cy="201168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3355"/>
                </a:solidFill>
              </a:defRPr>
            </a:pPr>
            <a:r>
              <a:t>$2,550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per month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Small business overhead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828800"/>
            <a:ext cx="3200400" cy="201168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3355"/>
                </a:solidFill>
              </a:defRPr>
            </a:pPr>
            <a:r>
              <a:t>$31K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per year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Just for API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The Model-as-a-Service (MaaS) paradigm creates a linear cost trap.</a:t>
            </a:r>
            <a:br/>
            <a:br/>
            <a:r>
              <a:t>Every invoice, every lead scrape, every customer reply burns enterprise-grade tokens.</a:t>
            </a:r>
            <a:br/>
            <a:br/>
            <a:r>
              <a:t>This gates AI deployment behind corporate capital — grassroots builders can't compete.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PROBLEM: Computational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02  Task-Resource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Using a 175B-parameter frontier model for JSON formatting is like</a:t>
            </a:r>
            <a:br/>
            <a:r>
              <a:t>using a Formula 1 car to deliver groceries.</a:t>
            </a:r>
            <a:br/>
            <a:br/>
            <a:r>
              <a:t>• Text preprocessing → 175B reasoning tokens</a:t>
            </a:r>
            <a:br/>
            <a:r>
              <a:t>• Metadata extraction → 175B reasoning tokens</a:t>
            </a:r>
            <a:br/>
            <a:r>
              <a:t>• Invoice template filling → 175B reasoning tokens</a:t>
            </a:r>
            <a:br/>
            <a:r>
              <a:t>• Data scrubbing → 175B reasoning tokens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731520" y="4114800"/>
            <a:ext cx="1828800" cy="548640"/>
          </a:xfrm>
          <a:prstGeom prst="rightArrow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Complex reasoning tokens wasted on deterministic, low-level tasks.</a:t>
            </a:r>
            <a:br/>
            <a:r>
              <a:t>Developers lack middleware to intelligently segment workflows.</a:t>
            </a:r>
            <a:br/>
            <a:r>
              <a:t>Result: 90% of API spend is computational overkill.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DILEMMA: Privacy vs.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03  No Middle Ground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572000" cy="3200400"/>
          </a:xfrm>
          <a:prstGeom prst="roundRect">
            <a:avLst/>
          </a:prstGeom>
          <a:solidFill>
            <a:srgbClr val="111118"/>
          </a:solidFill>
          <a:ln w="2540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FF3355"/>
                </a:solidFill>
              </a:defRPr>
            </a:pPr>
            <a:r>
              <a:t>CENTRALIZED CLOUD</a:t>
            </a:r>
          </a:p>
          <a:p>
            <a:pPr algn="ctr">
              <a:defRPr sz="1600">
                <a:solidFill>
                  <a:srgbClr val="CCCCCC"/>
                </a:solidFill>
              </a:defRPr>
            </a:pPr>
            <a:r>
              <a:t>High token fees</a:t>
            </a:r>
            <a:br/>
            <a:r>
              <a:t>Data extraction risk</a:t>
            </a:r>
            <a:br/>
            <a:r>
              <a:t>Rate limit gates</a:t>
            </a:r>
            <a:br/>
            <a:r>
              <a:t>Policy dependency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011680"/>
            <a:ext cx="4572000" cy="3200400"/>
          </a:xfrm>
          <a:prstGeom prst="roundRect">
            <a:avLst/>
          </a:prstGeom>
          <a:solidFill>
            <a:srgbClr val="111118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00E676"/>
                </a:solidFill>
              </a:defRPr>
            </a:pPr>
            <a:r>
              <a:t>ISOLATED EDGE</a:t>
            </a:r>
          </a:p>
          <a:p>
            <a:pPr algn="ctr">
              <a:defRPr sz="1600">
                <a:solidFill>
                  <a:srgbClr val="CCCCCC"/>
                </a:solidFill>
              </a:defRPr>
            </a:pPr>
            <a:r>
              <a:t>Zero marginal cost</a:t>
            </a:r>
            <a:br/>
            <a:r>
              <a:t>Absolute privacy</a:t>
            </a:r>
            <a:br/>
            <a:r>
              <a:t>Offline capable</a:t>
            </a:r>
            <a:br/>
            <a:r>
              <a:t>Limited reasoning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</a:defRPr>
            </a:pPr>
            <a:r>
              <a:t>Developers are forced to choose: expensive capability OR cheap isolation.</a:t>
            </a:r>
            <a:br/>
            <a:r>
              <a:t>There is no middleware that intelligently routes between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SOLUTION: Hybrid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A Protocol Traffic Cop for AI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Multi-agent middleware that enforces strict duty boundaries between</a:t>
            </a:r>
            <a:br/>
            <a:r>
              <a:t>edge compute (cheap, private, local) and cloud compute (capable, expensive, remote).</a:t>
            </a:r>
            <a:br/>
            <a:br/>
            <a:r>
              <a:t>High-frequency tasks → Local SLMs</a:t>
            </a:r>
            <a:br/>
            <a:r>
              <a:t>Complex reasoning → Frontier models (minimal payloads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3200400" cy="1645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A0A0F"/>
                </a:solidFill>
              </a:defRPr>
            </a:pPr>
            <a:r>
              <a:t>TIER 1</a:t>
            </a:r>
            <a:br/>
            <a:r>
              <a:t>LOCAL SLM</a:t>
            </a:r>
          </a:p>
          <a:p>
            <a:pPr algn="ctr">
              <a:defRPr sz="1300">
                <a:solidFill>
                  <a:srgbClr val="0A0A0F"/>
                </a:solidFill>
              </a:defRPr>
            </a:pPr>
            <a:r>
              <a:t>Phi3 3B on Pi 5</a:t>
            </a:r>
            <a:br/>
            <a:r>
              <a:t>$0 | ~3 min</a:t>
            </a:r>
            <a:br/>
            <a:r>
              <a:t>Simple Q&amp;A, formatting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3657600"/>
            <a:ext cx="32004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A0A0F"/>
                </a:solidFill>
              </a:defRPr>
            </a:pPr>
            <a:r>
              <a:t>TIER 2</a:t>
            </a:r>
            <a:br/>
            <a:r>
              <a:t>FAST CLOUD</a:t>
            </a:r>
          </a:p>
          <a:p>
            <a:pPr algn="ctr">
              <a:defRPr sz="1300">
                <a:solidFill>
                  <a:srgbClr val="0A0A0F"/>
                </a:solidFill>
              </a:defRPr>
            </a:pPr>
            <a:r>
              <a:t>Gemini Flash</a:t>
            </a:r>
            <a:br/>
            <a:r>
              <a:t>$0.001 | ~2 sec</a:t>
            </a:r>
            <a:br/>
            <a:r>
              <a:t>Structured output, invoices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3657600"/>
            <a:ext cx="3200400" cy="164592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TIER 3</a:t>
            </a:r>
            <a:br/>
            <a:r>
              <a:t>DEEP CLOUD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Claude Opus</a:t>
            </a:r>
            <a:br/>
            <a:r>
              <a:t>$0.15 | ~5 sec</a:t>
            </a:r>
            <a:br/>
            <a:r>
              <a:t>NEC code, strategy, debug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solidFill>
            <a:srgbClr val="22223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QUALITY GATE: Structure check → Completeness → Accuracy → Timeout fallback → User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PROOF OF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solidFill>
            <a:srgbClr val="111118"/>
          </a:solidFill>
          <a:ln w="381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600" b="1">
                <a:solidFill>
                  <a:srgbClr val="00E676"/>
                </a:solidFill>
              </a:defRPr>
            </a:pPr>
            <a:r>
              <a:t>99.4%</a:t>
            </a:r>
          </a:p>
          <a:p>
            <a:pPr algn="ctr">
              <a:defRPr sz="2200" b="1">
                <a:solidFill>
                  <a:srgbClr val="CCCCCC"/>
                </a:solidFill>
              </a:defRPr>
            </a:pPr>
            <a:r>
              <a:t>COST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029200" cy="1280160"/>
          </a:xfrm>
          <a:prstGeom prst="rect">
            <a:avLst/>
          </a:prstGeom>
          <a:solidFill>
            <a:srgbClr val="111118"/>
          </a:solidFill>
          <a:ln w="2540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3355"/>
                </a:solidFill>
              </a:defRPr>
            </a:pPr>
            <a:r>
              <a:t>BEFORE: $85/day  |  $2,550/mo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3108960"/>
            <a:ext cx="5029200" cy="1280160"/>
          </a:xfrm>
          <a:prstGeom prst="rect">
            <a:avLst/>
          </a:prstGeom>
          <a:solidFill>
            <a:srgbClr val="111118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E676"/>
                </a:solidFill>
              </a:defRPr>
            </a:pPr>
            <a:r>
              <a:t>AFTER: $0.55/day  |  $16.50/mo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88"/>
                </a:solidFill>
              </a:defRPr>
            </a:pPr>
            <a:r>
              <a:t>Deployed on: Raspberry Pi 5 ($150)  |  8 GB RAM  |  128 GB SD + 2 TB USB</a:t>
            </a:r>
            <a:br/>
            <a:r>
              <a:t>10 production services orchestrated  |  3+ weeks continuous uptime</a:t>
            </a:r>
            <a:br/>
            <a:r>
              <a:t>AES-256-GCM encrypted vault  |  Zero plain-text credentials on disk</a:t>
            </a:r>
            <a:br/>
            <a:r>
              <a:t>7 automated cron jobs  |  Telegram alert delivery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Production Services Orchestrated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5678  |  n8n Automation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Workflow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8080  |  Energy Experts Board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Kanban task mgmt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8081  |  File Manager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Document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37744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8088  |  Think Energy Leads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Lead capture CRM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8090  |  Command Center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Central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38328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8091  |  Money / Budget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Financial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8092  |  CRM / Lead Portal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Customer mgmt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38912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8093  |  Finance / Reports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Invoice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9496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8094  |  BFN Monitor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Pipeline telemetry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394960"/>
            <a:ext cx="5029200" cy="8229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B4D8"/>
                </a:solidFill>
              </a:defRPr>
            </a:pPr>
            <a:r>
              <a:t>8095  |  ComEd Dashboard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Utility bill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Security: Zero-Trust at the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AES-256-GCM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All API keys encrypted at rest. PBKDF2 key derivation (100K iterations).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Runtime Decryption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68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Cron + pipeline auto-unlock vault. No human typing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Permission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918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Password file chmod 600. Zero plain-text credentials on disk.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Watchdog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10 services checked every 5 min. Auto-restart + Telegram alerts.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Encrypted 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Weekly auto-backup of all scripts, data, vault to external drive.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Cloudflare Tunnel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SSL termination without exposing Pi IP. No open ports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Decentralized Infrastructure Matters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Cost Democratization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83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$150 Pi replaces $2,500+/yr cloud spend. AI viable for bootstrapped builders.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Data Sovereignty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71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All inference local unless escalated. Customer data never touches third parties.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160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Cloud APIs fail. Local SLMs run offline. Graceful degradation in both directions.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Web3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49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Routing logic, cost accounting, model governance → on-chain. Community-owned intelligence.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PHASE 1</a:t>
            </a:r>
          </a:p>
          <a:p>
            <a:pPr algn="ctr">
              <a:defRPr sz="1100">
                <a:solidFill>
                  <a:srgbClr val="0A0A0F"/>
                </a:solidFill>
              </a:defRPr>
            </a:pPr>
            <a:r>
              <a:t>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737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Multi-tier pipeline • Encrypted vault • Watchdog • Backup • 10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01168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PHASE 2</a:t>
            </a:r>
          </a:p>
          <a:p>
            <a:pPr algn="ctr">
              <a:defRPr sz="1100">
                <a:solidFill>
                  <a:srgbClr val="0A0A0F"/>
                </a:solidFill>
              </a:defRPr>
            </a:pPr>
            <a:r>
              <a:t>DAYS 1-3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9260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SSL/HTTPS • Log rotation • PIN auth • SQLite • Reverse proxy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2011680" cy="91440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PHASE 3</a:t>
            </a:r>
          </a:p>
          <a:p>
            <a:pPr algn="ctr">
              <a:defRPr sz="1100">
                <a:solidFill>
                  <a:srgbClr val="0A0A0F"/>
                </a:solidFill>
              </a:defRPr>
            </a:pPr>
            <a:r>
              <a:t>WEEKS 2-4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114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CI/CD • Multi-Pi cluster • PostgreSQL • Load balancer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201168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PHASE 4</a:t>
            </a:r>
          </a:p>
          <a:p>
            <a:pPr algn="ctr">
              <a:defRPr sz="1100">
                <a:solidFill>
                  <a:srgbClr val="0A0A0F"/>
                </a:solidFill>
              </a:defRPr>
            </a:pPr>
            <a:r>
              <a:t>MONTHS 2-6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DECENTRALIZE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303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On-chain cost logging • DAO governance • P2P sharing • Token incentives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We proved decentralized multi-agent AI is deployable TODAY.</a:t>
            </a:r>
            <a:br/>
            <a:br/>
            <a:r>
              <a:t>A $150 Raspberry Pi runs production-grade infrastructure with 99.4% cost reduction.</a:t>
            </a:r>
            <a:br/>
            <a:br/>
            <a:r>
              <a:t>Funding accelerates Phase 3-4: multi-node clusters, DAO governance, and</a:t>
            </a:r>
            <a:br/>
            <a:r>
              <a:t>a peer-to-peer protocol for sharing SLM capacity across community nodes.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3474720" cy="2011680"/>
          </a:xfrm>
          <a:prstGeom prst="rect">
            <a:avLst/>
          </a:prstGeom>
          <a:solidFill>
            <a:srgbClr val="11111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Engineering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Scale to multi-Pi cluster + P2P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474720" cy="2011680"/>
          </a:xfrm>
          <a:prstGeom prst="rect">
            <a:avLst/>
          </a:prstGeom>
          <a:solidFill>
            <a:srgbClr val="11111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Integration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On-chain cost logging + DAO model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3657600"/>
            <a:ext cx="3474720" cy="2011680"/>
          </a:xfrm>
          <a:prstGeom prst="rect">
            <a:avLst/>
          </a:prstGeom>
          <a:solidFill>
            <a:srgbClr val="11111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Adoption</a:t>
            </a:r>
          </a:p>
          <a:p>
            <a:pPr algn="ctr">
              <a:defRPr sz="1300">
                <a:solidFill>
                  <a:srgbClr val="CCCCCC"/>
                </a:solidFill>
              </a:defRPr>
            </a:pPr>
            <a:r>
              <a:t>Pilot with 5 grassroots orgs (contractors, co-ops, DAOs)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88888"/>
                </a:solidFill>
              </a:defRPr>
            </a:pPr>
            <a:r>
              <a:t>The future of AI is not bigger clouds.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It is smarter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</a:defRPr>
            </a:pPr>
            <a:r>
              <a:t>Derrell Black | Blacktech Solutions 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github.com/Hoodtokencom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blue.blacktechsolutionscorp.com/monitor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